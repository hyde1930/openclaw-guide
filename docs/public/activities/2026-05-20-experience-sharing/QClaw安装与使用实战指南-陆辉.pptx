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qclaw.qq.com/" TargetMode="Externa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hyperlink" Target="https://qclaw.qq.com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qclaw.qq.com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qclaw.qq.com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hyperlink" Target="https://v.wjx.cn/vm/Q0GBd1j.asp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A4FF"/>
          </a:solidFill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36576"/>
          </a:xfrm>
          <a:prstGeom prst="rect">
            <a:avLst/>
          </a:prstGeom>
          <a:solidFill>
            <a:srgbClr val="0052D9"/>
          </a:solidFill>
        </p:spPr>
      </p:sp>
      <p:sp>
        <p:nvSpPr>
          <p:cNvPr id="4" name="Shape 2"/>
          <p:cNvSpPr/>
          <p:nvPr/>
        </p:nvSpPr>
        <p:spPr>
          <a:xfrm>
            <a:off x="6858000" y="146304"/>
            <a:ext cx="73152" cy="4572000"/>
          </a:xfrm>
          <a:prstGeom prst="rect">
            <a:avLst/>
          </a:prstGeom>
          <a:solidFill>
            <a:srgbClr val="00A4FF">
              <a:alpha val="75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731520" y="822960"/>
            <a:ext cx="76809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QClaw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A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安装与使用实战指南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2011680" cy="36576"/>
          </a:xfrm>
          <a:prstGeom prst="rect">
            <a:avLst/>
          </a:prstGeom>
          <a:solidFill>
            <a:srgbClr val="00A4FF"/>
          </a:solidFill>
        </p:spPr>
      </p:sp>
      <p:sp>
        <p:nvSpPr>
          <p:cNvPr id="8" name="Text 6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腾讯电脑管家官方出品 · 微信远程办公 AI 助手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280160" cy="347472"/>
          </a:xfrm>
          <a:prstGeom prst="rect">
            <a:avLst/>
          </a:prstGeom>
          <a:solidFill>
            <a:srgbClr val="0052D9"/>
          </a:solidFill>
        </p:spPr>
      </p:sp>
      <p:sp>
        <p:nvSpPr>
          <p:cNvPr id="10" name="Text 8"/>
          <p:cNvSpPr/>
          <p:nvPr/>
        </p:nvSpPr>
        <p:spPr>
          <a:xfrm>
            <a:off x="731520" y="3474720"/>
            <a:ext cx="1280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安装部署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4560" y="3474720"/>
            <a:ext cx="1280160" cy="347472"/>
          </a:xfrm>
          <a:prstGeom prst="rect">
            <a:avLst/>
          </a:prstGeom>
          <a:solidFill>
            <a:srgbClr val="0052D9"/>
          </a:solidFill>
        </p:spPr>
      </p:sp>
      <p:sp>
        <p:nvSpPr>
          <p:cNvPr id="12" name="Text 10"/>
          <p:cNvSpPr/>
          <p:nvPr/>
        </p:nvSpPr>
        <p:spPr>
          <a:xfrm>
            <a:off x="2194560" y="3474720"/>
            <a:ext cx="1280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配置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3474720"/>
            <a:ext cx="1280160" cy="347472"/>
          </a:xfrm>
          <a:prstGeom prst="rect">
            <a:avLst/>
          </a:prstGeom>
          <a:solidFill>
            <a:srgbClr val="0052D9"/>
          </a:solidFill>
        </p:spPr>
      </p:sp>
      <p:sp>
        <p:nvSpPr>
          <p:cNvPr id="14" name="Text 12"/>
          <p:cNvSpPr/>
          <p:nvPr/>
        </p:nvSpPr>
        <p:spPr>
          <a:xfrm>
            <a:off x="3657600" y="3474720"/>
            <a:ext cx="1280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技能扩展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3474720"/>
            <a:ext cx="1280160" cy="347472"/>
          </a:xfrm>
          <a:prstGeom prst="rect">
            <a:avLst/>
          </a:prstGeom>
          <a:solidFill>
            <a:srgbClr val="0052D9"/>
          </a:solidFill>
        </p:spPr>
      </p:sp>
      <p:sp>
        <p:nvSpPr>
          <p:cNvPr id="16" name="Text 14"/>
          <p:cNvSpPr/>
          <p:nvPr/>
        </p:nvSpPr>
        <p:spPr>
          <a:xfrm>
            <a:off x="5120640" y="3474720"/>
            <a:ext cx="1280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安全管理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A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🦞 被称为「小龙虾 AI」— 越养越聪明的专属助手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57200" y="47091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QClaw 安装与使用实战指南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470916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课程大纲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7" name="Shape 5"/>
          <p:cNvSpPr/>
          <p:nvPr/>
        </p:nvSpPr>
        <p:spPr>
          <a:xfrm>
            <a:off x="731520" y="1280160"/>
            <a:ext cx="7680960" cy="777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280160"/>
            <a:ext cx="73152" cy="777240"/>
          </a:xfrm>
          <a:prstGeom prst="rect">
            <a:avLst/>
          </a:prstGeom>
          <a:solidFill>
            <a:srgbClr val="0052D9"/>
          </a:solidFill>
        </p:spPr>
      </p:sp>
      <p:sp>
        <p:nvSpPr>
          <p:cNvPr id="9" name="Text 7"/>
          <p:cNvSpPr/>
          <p:nvPr/>
        </p:nvSpPr>
        <p:spPr>
          <a:xfrm>
            <a:off x="1005840" y="1371600"/>
            <a:ext cx="731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2D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135331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安装部署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169164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环境要求、下载安装、初始配置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146304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P3-P5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148840"/>
            <a:ext cx="7680960" cy="777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148840"/>
            <a:ext cx="73152" cy="777240"/>
          </a:xfrm>
          <a:prstGeom prst="rect">
            <a:avLst/>
          </a:prstGeom>
          <a:solidFill>
            <a:srgbClr val="00A4FF"/>
          </a:solidFill>
        </p:spPr>
      </p:sp>
      <p:sp>
        <p:nvSpPr>
          <p:cNvPr id="15" name="Text 13"/>
          <p:cNvSpPr/>
          <p:nvPr/>
        </p:nvSpPr>
        <p:spPr>
          <a:xfrm>
            <a:off x="1005840" y="2240280"/>
            <a:ext cx="731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828800" y="222199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功能运用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25603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核心功能、API配置、Skills生态、场景实战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P6-P10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017520"/>
            <a:ext cx="73152" cy="777240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21" name="Text 19"/>
          <p:cNvSpPr/>
          <p:nvPr/>
        </p:nvSpPr>
        <p:spPr>
          <a:xfrm>
            <a:off x="1005840" y="3108960"/>
            <a:ext cx="731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85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828800" y="309067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安全管理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828800" y="342900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本地安全、数据隐私、权限管控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320040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P11-P13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886200"/>
            <a:ext cx="7680960" cy="777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886200"/>
            <a:ext cx="73152" cy="777240"/>
          </a:xfrm>
          <a:prstGeom prst="rect">
            <a:avLst/>
          </a:prstGeom>
          <a:solidFill>
            <a:srgbClr val="FF9800"/>
          </a:solidFill>
        </p:spPr>
      </p:sp>
      <p:sp>
        <p:nvSpPr>
          <p:cNvPr id="27" name="Text 25"/>
          <p:cNvSpPr/>
          <p:nvPr/>
        </p:nvSpPr>
        <p:spPr>
          <a:xfrm>
            <a:off x="1005840" y="3977640"/>
            <a:ext cx="731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980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828800" y="395935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828800" y="429768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要点回顾、资源链接、Q&amp;A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406908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P14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57200" y="47091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QClaw 安装与使用实战指南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470916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2D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QClaw 是什么？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7" name="Shape 5"/>
          <p:cNvSpPr/>
          <p:nvPr/>
        </p:nvSpPr>
        <p:spPr>
          <a:xfrm>
            <a:off x="731520" y="1097280"/>
            <a:ext cx="4114800" cy="3200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097280"/>
            <a:ext cx="54864" cy="3200400"/>
          </a:xfrm>
          <a:prstGeom prst="rect">
            <a:avLst/>
          </a:prstGeom>
          <a:solidFill>
            <a:srgbClr val="0052D9"/>
          </a:solidFill>
        </p:spPr>
      </p:sp>
      <p:sp>
        <p:nvSpPr>
          <p:cNvPr id="9" name="Text 7"/>
          <p:cNvSpPr/>
          <p:nvPr/>
        </p:nvSpPr>
        <p:spPr>
          <a:xfrm>
            <a:off x="1097280" y="128016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产品定位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737360"/>
            <a:ext cx="347472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腾讯电脑管家官方出品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 OpenClaw 开源生态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本地化 AI Agent 助手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被称为「小龙虾 AI」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微信远程办公，数据不出本地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566160"/>
            <a:ext cx="3474720" cy="457200"/>
          </a:xfrm>
          <a:prstGeom prst="rect">
            <a:avLst/>
          </a:prstGeom>
          <a:solidFill>
            <a:srgbClr val="E8F4FD"/>
          </a:solidFill>
        </p:spPr>
      </p:sp>
      <p:sp>
        <p:nvSpPr>
          <p:cNvPr id="12" name="Text 10">
            <a:hlinkClick r:id="rId1" tooltip="QClaw 官网"/>
          </p:cNvPr>
          <p:cNvSpPr/>
          <p:nvPr/>
        </p:nvSpPr>
        <p:spPr>
          <a:xfrm>
            <a:off x="1097280" y="356616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u="sng" dirty="0">
                <a:solidFill>
                  <a:srgbClr val="0052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🔗  官网：qclaw.qq.com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1097280"/>
            <a:ext cx="3840480" cy="3200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1097280"/>
            <a:ext cx="54864" cy="3200400"/>
          </a:xfrm>
          <a:prstGeom prst="rect">
            <a:avLst/>
          </a:prstGeom>
          <a:solidFill>
            <a:srgbClr val="00A4FF"/>
          </a:solidFill>
        </p:spPr>
      </p:sp>
      <p:sp>
        <p:nvSpPr>
          <p:cNvPr id="15" name="Text 13"/>
          <p:cNvSpPr/>
          <p:nvPr/>
        </p:nvSpPr>
        <p:spPr>
          <a:xfrm>
            <a:off x="5303520" y="128016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五大核心优势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03520" y="1755648"/>
            <a:ext cx="292608" cy="292608"/>
          </a:xfrm>
          <a:prstGeom prst="ellipse">
            <a:avLst/>
          </a:prstGeom>
          <a:solidFill>
            <a:srgbClr val="00C853"/>
          </a:solidFill>
        </p:spPr>
      </p:sp>
      <p:sp>
        <p:nvSpPr>
          <p:cNvPr id="17" name="Text 15"/>
          <p:cNvSpPr/>
          <p:nvPr/>
        </p:nvSpPr>
        <p:spPr>
          <a:xfrm>
            <a:off x="5303520" y="1737360"/>
            <a:ext cx="2926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0" y="17373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本地部署 · 数据安全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03520" y="2212848"/>
            <a:ext cx="292608" cy="292608"/>
          </a:xfrm>
          <a:prstGeom prst="ellipse">
            <a:avLst/>
          </a:prstGeom>
          <a:solidFill>
            <a:srgbClr val="00A4FF"/>
          </a:solidFill>
        </p:spPr>
      </p:sp>
      <p:sp>
        <p:nvSpPr>
          <p:cNvPr id="20" name="Text 18"/>
          <p:cNvSpPr/>
          <p:nvPr/>
        </p:nvSpPr>
        <p:spPr>
          <a:xfrm>
            <a:off x="5303520" y="2194560"/>
            <a:ext cx="2926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0" y="21945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开箱即用 · 零门槛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03520" y="2670048"/>
            <a:ext cx="292608" cy="292608"/>
          </a:xfrm>
          <a:prstGeom prst="ellipse">
            <a:avLst/>
          </a:prstGeom>
          <a:solidFill>
            <a:srgbClr val="0052D9"/>
          </a:solidFill>
        </p:spPr>
      </p:sp>
      <p:sp>
        <p:nvSpPr>
          <p:cNvPr id="23" name="Text 21"/>
          <p:cNvSpPr/>
          <p:nvPr/>
        </p:nvSpPr>
        <p:spPr>
          <a:xfrm>
            <a:off x="5303520" y="2651760"/>
            <a:ext cx="2926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0" y="26517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微信直联 · 远程协同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03520" y="3127248"/>
            <a:ext cx="292608" cy="292608"/>
          </a:xfrm>
          <a:prstGeom prst="ellipse">
            <a:avLst/>
          </a:prstGeom>
          <a:solidFill>
            <a:srgbClr val="00C853"/>
          </a:solidFill>
        </p:spPr>
      </p:sp>
      <p:sp>
        <p:nvSpPr>
          <p:cNvPr id="26" name="Text 24"/>
          <p:cNvSpPr/>
          <p:nvPr/>
        </p:nvSpPr>
        <p:spPr>
          <a:xfrm>
            <a:off x="5303520" y="3108960"/>
            <a:ext cx="2926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60720" y="31089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海量技能 · 无限扩展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03520" y="3584448"/>
            <a:ext cx="292608" cy="292608"/>
          </a:xfrm>
          <a:prstGeom prst="ellipse">
            <a:avLst/>
          </a:prstGeom>
          <a:solidFill>
            <a:srgbClr val="00A4FF"/>
          </a:solidFill>
        </p:spPr>
      </p:sp>
      <p:sp>
        <p:nvSpPr>
          <p:cNvPr id="29" name="Text 27"/>
          <p:cNvSpPr/>
          <p:nvPr/>
        </p:nvSpPr>
        <p:spPr>
          <a:xfrm>
            <a:off x="5303520" y="3566160"/>
            <a:ext cx="2926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60720" y="35661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持续记忆 · 越用越懂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57200" y="47091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QClaw 安装与使用实战指南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470916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2D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  下载与安装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7" name="Shape 5"/>
          <p:cNvSpPr/>
          <p:nvPr/>
        </p:nvSpPr>
        <p:spPr>
          <a:xfrm>
            <a:off x="731520" y="1005840"/>
            <a:ext cx="2011680" cy="438912"/>
          </a:xfrm>
          <a:prstGeom prst="rect">
            <a:avLst/>
          </a:prstGeom>
          <a:solidFill>
            <a:srgbClr val="0052D9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005840"/>
            <a:ext cx="2011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⬇️  官网下载</a:t>
            </a:r>
            <a:endParaRPr lang="en-US" sz="1400" dirty="0"/>
          </a:p>
        </p:txBody>
      </p:sp>
      <p:sp>
        <p:nvSpPr>
          <p:cNvPr id="9" name="Text 7">
            <a:hlinkClick r:id="rId1" tooltip="QClaw 官网下载"/>
          </p:cNvPr>
          <p:cNvSpPr/>
          <p:nvPr/>
        </p:nvSpPr>
        <p:spPr>
          <a:xfrm>
            <a:off x="2926080" y="1005840"/>
            <a:ext cx="3657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0052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https://qclaw.qq.com/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1554480"/>
            <a:ext cx="5303520" cy="822960"/>
          </a:xfrm>
          <a:prstGeom prst="rect">
            <a:avLst/>
          </a:prstGeom>
          <a:solidFill>
            <a:srgbClr val="FFF8E1"/>
          </a:solidFill>
        </p:spPr>
      </p:sp>
      <p:sp>
        <p:nvSpPr>
          <p:cNvPr id="13" name="Shape 11"/>
          <p:cNvSpPr/>
          <p:nvPr/>
        </p:nvSpPr>
        <p:spPr>
          <a:xfrm>
            <a:off x="731520" y="1554480"/>
            <a:ext cx="54864" cy="822960"/>
          </a:xfrm>
          <a:prstGeom prst="rect">
            <a:avLst/>
          </a:prstGeom>
          <a:solidFill>
            <a:srgbClr val="FF9800"/>
          </a:solidFill>
        </p:spPr>
      </p:sp>
      <p:sp>
        <p:nvSpPr>
          <p:cNvPr id="14" name="Text 12"/>
          <p:cNvSpPr/>
          <p:nvPr/>
        </p:nvSpPr>
        <p:spPr>
          <a:xfrm>
            <a:off x="1005840" y="16459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环境要求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920240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 Mac &amp; Windows 双平台 · 无需 Node.js / Python / 命令行基础 · 一键安装，开箱即用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560320"/>
            <a:ext cx="2468880" cy="15544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2560320"/>
            <a:ext cx="2468880" cy="54864"/>
          </a:xfrm>
          <a:prstGeom prst="rect">
            <a:avLst/>
          </a:prstGeom>
          <a:solidFill>
            <a:srgbClr val="0052D9"/>
          </a:solidFill>
        </p:spPr>
      </p:sp>
      <p:sp>
        <p:nvSpPr>
          <p:cNvPr id="18" name="Shape 16"/>
          <p:cNvSpPr/>
          <p:nvPr/>
        </p:nvSpPr>
        <p:spPr>
          <a:xfrm>
            <a:off x="1600200" y="2743200"/>
            <a:ext cx="640080" cy="640080"/>
          </a:xfrm>
          <a:prstGeom prst="ellipse">
            <a:avLst/>
          </a:prstGeom>
          <a:solidFill>
            <a:srgbClr val="0052D9"/>
          </a:solidFill>
        </p:spPr>
      </p:sp>
      <p:sp>
        <p:nvSpPr>
          <p:cNvPr id="19" name="Text 17"/>
          <p:cNvSpPr/>
          <p:nvPr/>
        </p:nvSpPr>
        <p:spPr>
          <a:xfrm>
            <a:off x="1600200" y="27432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8680" y="3520440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下载安装包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79476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访问官网，选择对应平台安装包下载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2560320"/>
            <a:ext cx="2468880" cy="15544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83280" y="2560320"/>
            <a:ext cx="2468880" cy="54864"/>
          </a:xfrm>
          <a:prstGeom prst="rect">
            <a:avLst/>
          </a:prstGeom>
          <a:solidFill>
            <a:srgbClr val="0052D9"/>
          </a:solidFill>
        </p:spPr>
      </p:sp>
      <p:sp>
        <p:nvSpPr>
          <p:cNvPr id="24" name="Shape 22"/>
          <p:cNvSpPr/>
          <p:nvPr/>
        </p:nvSpPr>
        <p:spPr>
          <a:xfrm>
            <a:off x="4251960" y="2743200"/>
            <a:ext cx="640080" cy="640080"/>
          </a:xfrm>
          <a:prstGeom prst="ellipse">
            <a:avLst/>
          </a:prstGeom>
          <a:solidFill>
            <a:srgbClr val="0052D9"/>
          </a:solidFill>
        </p:spPr>
      </p:sp>
      <p:sp>
        <p:nvSpPr>
          <p:cNvPr id="25" name="Text 23"/>
          <p:cNvSpPr/>
          <p:nvPr/>
        </p:nvSpPr>
        <p:spPr>
          <a:xfrm>
            <a:off x="4251960" y="27432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520440" y="3520440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一键安装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0440" y="379476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双击运行，无需配置环境变量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2560320"/>
            <a:ext cx="2468880" cy="15544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2560320"/>
            <a:ext cx="2468880" cy="54864"/>
          </a:xfrm>
          <a:prstGeom prst="rect">
            <a:avLst/>
          </a:prstGeom>
          <a:solidFill>
            <a:srgbClr val="0052D9"/>
          </a:solidFill>
        </p:spPr>
      </p:sp>
      <p:sp>
        <p:nvSpPr>
          <p:cNvPr id="30" name="Shape 28"/>
          <p:cNvSpPr/>
          <p:nvPr/>
        </p:nvSpPr>
        <p:spPr>
          <a:xfrm>
            <a:off x="6903720" y="2743200"/>
            <a:ext cx="640080" cy="640080"/>
          </a:xfrm>
          <a:prstGeom prst="ellipse">
            <a:avLst/>
          </a:prstGeom>
          <a:solidFill>
            <a:srgbClr val="0052D9"/>
          </a:solidFill>
        </p:spPr>
      </p:sp>
      <p:sp>
        <p:nvSpPr>
          <p:cNvPr id="31" name="Text 29"/>
          <p:cNvSpPr/>
          <p:nvPr/>
        </p:nvSpPr>
        <p:spPr>
          <a:xfrm>
            <a:off x="6903720" y="27432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172200" y="3520440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启动 QClaw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72200" y="379476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打开应用，自动完成初始化部署</a:t>
            </a:r>
            <a:endParaRPr lang="en-US" sz="1100" dirty="0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0" y="138430"/>
            <a:ext cx="3553460" cy="15163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57200" y="47091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QClaw 安装与使用实战指南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470916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2D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  初始配置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7" name="Shape 5"/>
          <p:cNvSpPr/>
          <p:nvPr/>
        </p:nvSpPr>
        <p:spPr>
          <a:xfrm>
            <a:off x="731520" y="1097280"/>
            <a:ext cx="4114800" cy="3200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097280"/>
            <a:ext cx="54864" cy="3200400"/>
          </a:xfrm>
          <a:prstGeom prst="rect">
            <a:avLst/>
          </a:prstGeom>
          <a:solidFill>
            <a:srgbClr val="0052D9"/>
          </a:solidFill>
        </p:spPr>
      </p:sp>
      <p:sp>
        <p:nvSpPr>
          <p:cNvPr id="9" name="Text 7"/>
          <p:cNvSpPr/>
          <p:nvPr/>
        </p:nvSpPr>
        <p:spPr>
          <a:xfrm>
            <a:off x="1097280" y="128016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📱 扫码绑定微信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737360"/>
            <a:ext cx="34747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打开 QClaw 应用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点击「关联微信」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使用微信扫码完成绑定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绑定后可通过微信远程发指令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291840"/>
            <a:ext cx="3474720" cy="457200"/>
          </a:xfrm>
          <a:prstGeom prst="rect">
            <a:avLst/>
          </a:prstGeom>
          <a:solidFill>
            <a:srgbClr val="E8F4FD"/>
          </a:solidFill>
        </p:spPr>
      </p:sp>
      <p:sp>
        <p:nvSpPr>
          <p:cNvPr id="12" name="Text 10"/>
          <p:cNvSpPr/>
          <p:nvPr/>
        </p:nvSpPr>
        <p:spPr>
          <a:xfrm>
            <a:off x="1097280" y="329184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52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零配置，扫码即连，随时随地远程办公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1097280"/>
            <a:ext cx="3840480" cy="3200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1097280"/>
            <a:ext cx="54864" cy="3200400"/>
          </a:xfrm>
          <a:prstGeom prst="rect">
            <a:avLst/>
          </a:prstGeom>
          <a:solidFill>
            <a:srgbClr val="00A4FF"/>
          </a:solidFill>
        </p:spPr>
      </p:sp>
      <p:sp>
        <p:nvSpPr>
          <p:cNvPr id="15" name="Text 13"/>
          <p:cNvSpPr/>
          <p:nvPr/>
        </p:nvSpPr>
        <p:spPr>
          <a:xfrm>
            <a:off x="5303520" y="128016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🤖 模型配置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0" y="1737360"/>
            <a:ext cx="329184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内置多款国产优质大模型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自动调度，智能选择最优模型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支持切换自定义模型（API）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无需手动配置，开箱即用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03520" y="3291840"/>
            <a:ext cx="3291840" cy="457200"/>
          </a:xfrm>
          <a:prstGeom prst="rect">
            <a:avLst/>
          </a:prstGeom>
          <a:solidFill>
            <a:srgbClr val="E8F5E9"/>
          </a:solidFill>
        </p:spPr>
      </p:sp>
      <p:sp>
        <p:nvSpPr>
          <p:cNvPr id="18" name="Text 16"/>
          <p:cNvSpPr/>
          <p:nvPr/>
        </p:nvSpPr>
        <p:spPr>
          <a:xfrm>
            <a:off x="5303520" y="329184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默认使用内置模型，高级用户可自定义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57200" y="47091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QClaw 安装与使用实战指南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470916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  核心功能总览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7" name="Shape 5"/>
          <p:cNvSpPr/>
          <p:nvPr/>
        </p:nvSpPr>
        <p:spPr>
          <a:xfrm>
            <a:off x="731520" y="1097280"/>
            <a:ext cx="2514600" cy="15087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097280"/>
            <a:ext cx="2514600" cy="54864"/>
          </a:xfrm>
          <a:prstGeom prst="rect">
            <a:avLst/>
          </a:prstGeom>
          <a:solidFill>
            <a:srgbClr val="0052D9"/>
          </a:solidFill>
        </p:spPr>
      </p:sp>
      <p:sp>
        <p:nvSpPr>
          <p:cNvPr id="9" name="Text 7"/>
          <p:cNvSpPr/>
          <p:nvPr/>
        </p:nvSpPr>
        <p:spPr>
          <a:xfrm>
            <a:off x="914400" y="1280160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远程操控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2148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微信发指令，电脑自动执行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1097280"/>
            <a:ext cx="2514600" cy="15087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097280"/>
            <a:ext cx="2514600" cy="54864"/>
          </a:xfrm>
          <a:prstGeom prst="rect">
            <a:avLst/>
          </a:prstGeom>
          <a:solidFill>
            <a:srgbClr val="00A4FF"/>
          </a:solidFill>
        </p:spPr>
      </p:sp>
      <p:sp>
        <p:nvSpPr>
          <p:cNvPr id="13" name="Text 11"/>
          <p:cNvSpPr/>
          <p:nvPr/>
        </p:nvSpPr>
        <p:spPr>
          <a:xfrm>
            <a:off x="3611880" y="1280160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资料整理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1691640"/>
            <a:ext cx="2148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自动归类文件、提炼信息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514600" cy="15087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97280"/>
            <a:ext cx="2514600" cy="54864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17" name="Text 15"/>
          <p:cNvSpPr/>
          <p:nvPr/>
        </p:nvSpPr>
        <p:spPr>
          <a:xfrm>
            <a:off x="6309360" y="1280160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智能提醒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1691640"/>
            <a:ext cx="2148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定时天气、日程推送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2788920"/>
            <a:ext cx="2514600" cy="15087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2788920"/>
            <a:ext cx="2514600" cy="54864"/>
          </a:xfrm>
          <a:prstGeom prst="rect">
            <a:avLst/>
          </a:prstGeom>
          <a:solidFill>
            <a:srgbClr val="0052D9"/>
          </a:solidFill>
        </p:spPr>
      </p:sp>
      <p:sp>
        <p:nvSpPr>
          <p:cNvPr id="21" name="Text 19"/>
          <p:cNvSpPr/>
          <p:nvPr/>
        </p:nvSpPr>
        <p:spPr>
          <a:xfrm>
            <a:off x="914400" y="2971800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养虾进化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3383280"/>
            <a:ext cx="2148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持续学习偏好，越用越懂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29000" y="2788920"/>
            <a:ext cx="2514600" cy="15087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29000" y="2788920"/>
            <a:ext cx="2514600" cy="54864"/>
          </a:xfrm>
          <a:prstGeom prst="rect">
            <a:avLst/>
          </a:prstGeom>
          <a:solidFill>
            <a:srgbClr val="00A4FF"/>
          </a:solidFill>
        </p:spPr>
      </p:sp>
      <p:sp>
        <p:nvSpPr>
          <p:cNvPr id="25" name="Text 23"/>
          <p:cNvSpPr/>
          <p:nvPr/>
        </p:nvSpPr>
        <p:spPr>
          <a:xfrm>
            <a:off x="3611880" y="2971800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自动开发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611880" y="3383280"/>
            <a:ext cx="2148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自动建库写代码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2788920"/>
            <a:ext cx="2514600" cy="15087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2788920"/>
            <a:ext cx="2514600" cy="54864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29" name="Text 27"/>
          <p:cNvSpPr/>
          <p:nvPr/>
        </p:nvSpPr>
        <p:spPr>
          <a:xfrm>
            <a:off x="6309360" y="2971800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学术研究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09360" y="3383280"/>
            <a:ext cx="2148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文献检索、综述生成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57200" y="47091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QClaw 安装与使用实战指南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470916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  远程操控详解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7" name="Shape 5"/>
          <p:cNvSpPr/>
          <p:nvPr/>
        </p:nvSpPr>
        <p:spPr>
          <a:xfrm>
            <a:off x="731520" y="1097280"/>
            <a:ext cx="3840480" cy="3200400"/>
          </a:xfrm>
          <a:prstGeom prst="rect">
            <a:avLst/>
          </a:prstGeom>
          <a:solidFill>
            <a:srgbClr val="F5F5F5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097280"/>
            <a:ext cx="3840480" cy="411480"/>
          </a:xfrm>
          <a:prstGeom prst="rect">
            <a:avLst/>
          </a:prstGeom>
          <a:solidFill>
            <a:srgbClr val="07C160"/>
          </a:solidFill>
        </p:spPr>
      </p:sp>
      <p:sp>
        <p:nvSpPr>
          <p:cNvPr id="9" name="Text 7"/>
          <p:cNvSpPr/>
          <p:nvPr/>
        </p:nvSpPr>
        <p:spPr>
          <a:xfrm>
            <a:off x="731520" y="109728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💬 微信对话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11680" y="1645920"/>
            <a:ext cx="2377440" cy="640080"/>
          </a:xfrm>
          <a:prstGeom prst="rect">
            <a:avLst/>
          </a:prstGeom>
          <a:solidFill>
            <a:srgbClr val="DCF8C6"/>
          </a:solidFill>
        </p:spPr>
      </p:sp>
      <p:sp>
        <p:nvSpPr>
          <p:cNvPr id="11" name="Text 9"/>
          <p:cNvSpPr/>
          <p:nvPr/>
        </p:nvSpPr>
        <p:spPr>
          <a:xfrm>
            <a:off x="2103120" y="169164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帮我打开桌面的 Q3报告.xlsx，把第3列数据求和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468880"/>
            <a:ext cx="3291840" cy="6400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1005840" y="2514600"/>
            <a:ext cx="3108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📂 已打开文件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Q3总销售额为 ¥2,847,600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已保存！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097280"/>
            <a:ext cx="4023360" cy="3200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97280"/>
            <a:ext cx="54864" cy="3200400"/>
          </a:xfrm>
          <a:prstGeom prst="rect">
            <a:avLst/>
          </a:prstGeom>
          <a:solidFill>
            <a:srgbClr val="00A4FF"/>
          </a:solidFill>
        </p:spPr>
      </p:sp>
      <p:sp>
        <p:nvSpPr>
          <p:cNvPr id="16" name="Text 14"/>
          <p:cNvSpPr/>
          <p:nvPr/>
        </p:nvSpPr>
        <p:spPr>
          <a:xfrm>
            <a:off x="5120640" y="128016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远程操控能力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20640" y="1737360"/>
            <a:ext cx="3474720" cy="3657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8" name="Text 16"/>
          <p:cNvSpPr/>
          <p:nvPr/>
        </p:nvSpPr>
        <p:spPr>
          <a:xfrm>
            <a:off x="5212080" y="173736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📁 文件操作 — 打开、编辑、保存、发送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0640" y="2194560"/>
            <a:ext cx="3474720" cy="3657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0" name="Text 18"/>
          <p:cNvSpPr/>
          <p:nvPr/>
        </p:nvSpPr>
        <p:spPr>
          <a:xfrm>
            <a:off x="5212080" y="219456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🌐 浏览器控制 — 网页浏览、数据采集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20640" y="2651760"/>
            <a:ext cx="3474720" cy="3657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2" name="Text 20"/>
          <p:cNvSpPr/>
          <p:nvPr/>
        </p:nvSpPr>
        <p:spPr>
          <a:xfrm>
            <a:off x="5212080" y="265176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📧 邮件处理 — 收发邮件、自动回复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3108960"/>
            <a:ext cx="3474720" cy="3657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4" name="Text 22"/>
          <p:cNvSpPr/>
          <p:nvPr/>
        </p:nvSpPr>
        <p:spPr>
          <a:xfrm>
            <a:off x="5212080" y="310896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报表处理 — Excel 计算、数据汇总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20640" y="3566160"/>
            <a:ext cx="3474720" cy="3657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6" name="Text 24"/>
          <p:cNvSpPr/>
          <p:nvPr/>
        </p:nvSpPr>
        <p:spPr>
          <a:xfrm>
            <a:off x="5212080" y="356616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📝 文档编辑 — Word 润色、格式调整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57200" y="47091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QClaw 安装与使用实战指南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470916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  Skills 生态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7" name="Shape 5"/>
          <p:cNvSpPr/>
          <p:nvPr/>
        </p:nvSpPr>
        <p:spPr>
          <a:xfrm>
            <a:off x="731520" y="1097280"/>
            <a:ext cx="3657600" cy="3200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097280"/>
            <a:ext cx="54864" cy="3200400"/>
          </a:xfrm>
          <a:prstGeom prst="rect">
            <a:avLst/>
          </a:prstGeom>
          <a:solidFill>
            <a:srgbClr val="00A4FF"/>
          </a:solidFill>
        </p:spPr>
      </p:sp>
      <p:sp>
        <p:nvSpPr>
          <p:cNvPr id="9" name="Text 7"/>
          <p:cNvSpPr/>
          <p:nvPr/>
        </p:nvSpPr>
        <p:spPr>
          <a:xfrm>
            <a:off x="1097280" y="12801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ClawHub 技能市场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737360"/>
            <a:ext cx="310896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5000+ 海量 Skills 生态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兼容 ClawHub 开源技能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兼容 GitHub 开源技能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支持自定义创建与分享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Skills 随取随用，一键安装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3291840"/>
            <a:ext cx="3108960" cy="457200"/>
          </a:xfrm>
          <a:prstGeom prst="rect">
            <a:avLst/>
          </a:prstGeom>
          <a:solidFill>
            <a:srgbClr val="E8F4FD"/>
          </a:solidFill>
        </p:spPr>
      </p:sp>
      <p:sp>
        <p:nvSpPr>
          <p:cNvPr id="12" name="Text 10">
            <a:hlinkClick r:id="rId1" tooltip="QClaw 技能市场"/>
          </p:cNvPr>
          <p:cNvSpPr/>
          <p:nvPr/>
        </p:nvSpPr>
        <p:spPr>
          <a:xfrm>
            <a:off x="1097280" y="329184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u="sng" dirty="0">
                <a:solidFill>
                  <a:srgbClr val="0052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🔗  ClawHub：qclaw.qq.com/skills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657600" cy="3200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54864" cy="3200400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15" name="Text 13"/>
          <p:cNvSpPr/>
          <p:nvPr/>
        </p:nvSpPr>
        <p:spPr>
          <a:xfrm>
            <a:off x="5120640" y="12801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热门 Skills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20640" y="1737360"/>
            <a:ext cx="3108960" cy="3657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7" name="Text 15"/>
          <p:cNvSpPr/>
          <p:nvPr/>
        </p:nvSpPr>
        <p:spPr>
          <a:xfrm>
            <a:off x="5212080" y="173736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 文档生成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173736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 / PPT / PDF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2148840"/>
            <a:ext cx="3108960" cy="3657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0" name="Text 18"/>
          <p:cNvSpPr/>
          <p:nvPr/>
        </p:nvSpPr>
        <p:spPr>
          <a:xfrm>
            <a:off x="5212080" y="214884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  在线搜索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214884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多引擎检索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0" y="2560320"/>
            <a:ext cx="3108960" cy="3657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3" name="Text 21"/>
          <p:cNvSpPr/>
          <p:nvPr/>
        </p:nvSpPr>
        <p:spPr>
          <a:xfrm>
            <a:off x="5212080" y="256032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📧  邮件处理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256032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收发自动化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2971800"/>
            <a:ext cx="3108960" cy="3657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6" name="Text 24"/>
          <p:cNvSpPr/>
          <p:nvPr/>
        </p:nvSpPr>
        <p:spPr>
          <a:xfrm>
            <a:off x="5212080" y="297180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🌤  天气提醒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297180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定时推送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20640" y="3383280"/>
            <a:ext cx="3108960" cy="3657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9" name="Text 27"/>
          <p:cNvSpPr/>
          <p:nvPr/>
        </p:nvSpPr>
        <p:spPr>
          <a:xfrm>
            <a:off x="5212080" y="338328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💻  GitHub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338328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代码仓库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20640" y="3794760"/>
            <a:ext cx="3108960" cy="3657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2" name="Text 30"/>
          <p:cNvSpPr/>
          <p:nvPr/>
        </p:nvSpPr>
        <p:spPr>
          <a:xfrm>
            <a:off x="5212080" y="379476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 数据分析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379476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 / CSV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57200" y="47091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QClaw 安装与使用实战指南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470916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  模型切换与 API 配置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7" name="Shape 5"/>
          <p:cNvSpPr/>
          <p:nvPr/>
        </p:nvSpPr>
        <p:spPr>
          <a:xfrm>
            <a:off x="731520" y="1097280"/>
            <a:ext cx="2468880" cy="1645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097280"/>
            <a:ext cx="2468880" cy="73152"/>
          </a:xfrm>
          <a:prstGeom prst="rect">
            <a:avLst/>
          </a:prstGeom>
          <a:solidFill>
            <a:srgbClr val="0052D9"/>
          </a:solidFill>
        </p:spPr>
      </p:sp>
      <p:sp>
        <p:nvSpPr>
          <p:cNvPr id="9" name="Text 7"/>
          <p:cNvSpPr/>
          <p:nvPr/>
        </p:nvSpPr>
        <p:spPr>
          <a:xfrm>
            <a:off x="914400" y="128016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内置国产模型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2103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默认自动调度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无需配置，开箱即用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097280"/>
            <a:ext cx="2468880" cy="1645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097280"/>
            <a:ext cx="2468880" cy="73152"/>
          </a:xfrm>
          <a:prstGeom prst="rect">
            <a:avLst/>
          </a:prstGeom>
          <a:solidFill>
            <a:srgbClr val="10A37F"/>
          </a:solidFill>
        </p:spPr>
      </p:sp>
      <p:sp>
        <p:nvSpPr>
          <p:cNvPr id="13" name="Text 11"/>
          <p:cNvSpPr/>
          <p:nvPr/>
        </p:nvSpPr>
        <p:spPr>
          <a:xfrm>
            <a:off x="3566160" y="128016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OpenAI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1691640"/>
            <a:ext cx="2103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GPT-4o / GPT-4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 API Key 接入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468880" cy="1645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97280"/>
            <a:ext cx="2468880" cy="73152"/>
          </a:xfrm>
          <a:prstGeom prst="rect">
            <a:avLst/>
          </a:prstGeom>
          <a:solidFill>
            <a:srgbClr val="00A4FF"/>
          </a:solidFill>
        </p:spPr>
      </p:sp>
      <p:sp>
        <p:nvSpPr>
          <p:cNvPr id="17" name="Text 15"/>
          <p:cNvSpPr/>
          <p:nvPr/>
        </p:nvSpPr>
        <p:spPr>
          <a:xfrm>
            <a:off x="6217920" y="128016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自定义模型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1691640"/>
            <a:ext cx="2103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支持任意兼容 API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灵活切换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2926080"/>
            <a:ext cx="7680960" cy="13716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2926080"/>
            <a:ext cx="54864" cy="1371600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21" name="Text 19"/>
          <p:cNvSpPr/>
          <p:nvPr/>
        </p:nvSpPr>
        <p:spPr>
          <a:xfrm>
            <a:off x="1097280" y="3063240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自定义模型配置步骤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97280" y="3429000"/>
            <a:ext cx="2468880" cy="320040"/>
          </a:xfrm>
          <a:prstGeom prst="rect">
            <a:avLst/>
          </a:prstGeom>
          <a:solidFill>
            <a:srgbClr val="F0F7FF"/>
          </a:solidFill>
        </p:spPr>
      </p:sp>
      <p:sp>
        <p:nvSpPr>
          <p:cNvPr id="23" name="Text 21"/>
          <p:cNvSpPr/>
          <p:nvPr/>
        </p:nvSpPr>
        <p:spPr>
          <a:xfrm>
            <a:off x="1188720" y="342900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获取模型提供商 API Key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49040" y="3429000"/>
            <a:ext cx="2468880" cy="320040"/>
          </a:xfrm>
          <a:prstGeom prst="rect">
            <a:avLst/>
          </a:prstGeom>
          <a:solidFill>
            <a:srgbClr val="F0F7FF"/>
          </a:solidFill>
        </p:spPr>
      </p:sp>
      <p:sp>
        <p:nvSpPr>
          <p:cNvPr id="25" name="Text 23"/>
          <p:cNvSpPr/>
          <p:nvPr/>
        </p:nvSpPr>
        <p:spPr>
          <a:xfrm>
            <a:off x="3840480" y="342900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进入 QClaw 设置 → 模型配置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3429000"/>
            <a:ext cx="2468880" cy="320040"/>
          </a:xfrm>
          <a:prstGeom prst="rect">
            <a:avLst/>
          </a:prstGeom>
          <a:solidFill>
            <a:srgbClr val="F0F7FF"/>
          </a:solidFill>
        </p:spPr>
      </p:sp>
      <p:sp>
        <p:nvSpPr>
          <p:cNvPr id="27" name="Text 25"/>
          <p:cNvSpPr/>
          <p:nvPr/>
        </p:nvSpPr>
        <p:spPr>
          <a:xfrm>
            <a:off x="6492240" y="342900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选择「自定义模型」并填入 API Key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97280" y="3794760"/>
            <a:ext cx="2468880" cy="320040"/>
          </a:xfrm>
          <a:prstGeom prst="rect">
            <a:avLst/>
          </a:prstGeom>
          <a:solidFill>
            <a:srgbClr val="F0F7FF"/>
          </a:solidFill>
        </p:spPr>
      </p:sp>
      <p:sp>
        <p:nvSpPr>
          <p:cNvPr id="29" name="Text 27"/>
          <p:cNvSpPr/>
          <p:nvPr/>
        </p:nvSpPr>
        <p:spPr>
          <a:xfrm>
            <a:off x="1188720" y="379476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④ 设置模型 ID 和端点地址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749040" y="3794760"/>
            <a:ext cx="2468880" cy="320040"/>
          </a:xfrm>
          <a:prstGeom prst="rect">
            <a:avLst/>
          </a:prstGeom>
          <a:solidFill>
            <a:srgbClr val="F0F7FF"/>
          </a:solidFill>
        </p:spPr>
      </p:sp>
      <p:sp>
        <p:nvSpPr>
          <p:cNvPr id="31" name="Text 29"/>
          <p:cNvSpPr/>
          <p:nvPr/>
        </p:nvSpPr>
        <p:spPr>
          <a:xfrm>
            <a:off x="3840480" y="379476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⑤ 测试连接，保存配置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57200" y="47091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QClaw 安装与使用实战指南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470916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  典型应用场景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7" name="Shape 5"/>
          <p:cNvSpPr/>
          <p:nvPr/>
        </p:nvSpPr>
        <p:spPr>
          <a:xfrm>
            <a:off x="731520" y="1097280"/>
            <a:ext cx="3657600" cy="13716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097280"/>
            <a:ext cx="73152" cy="1371600"/>
          </a:xfrm>
          <a:prstGeom prst="rect">
            <a:avLst/>
          </a:prstGeom>
          <a:solidFill>
            <a:srgbClr val="0052D9"/>
          </a:solidFill>
        </p:spPr>
      </p:sp>
      <p:sp>
        <p:nvSpPr>
          <p:cNvPr id="9" name="Text 7"/>
          <p:cNvSpPr/>
          <p:nvPr/>
        </p:nvSpPr>
        <p:spPr>
          <a:xfrm>
            <a:off x="1005840" y="123444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远程办公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600200"/>
            <a:ext cx="3200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整理文件 · 查找文档 · 润色 Word · 发送邮件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657600" cy="13716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097280"/>
            <a:ext cx="73152" cy="1371600"/>
          </a:xfrm>
          <a:prstGeom prst="rect">
            <a:avLst/>
          </a:prstGeom>
          <a:solidFill>
            <a:srgbClr val="00A4FF"/>
          </a:solidFill>
        </p:spPr>
      </p:sp>
      <p:sp>
        <p:nvSpPr>
          <p:cNvPr id="13" name="Text 11"/>
          <p:cNvSpPr/>
          <p:nvPr/>
        </p:nvSpPr>
        <p:spPr>
          <a:xfrm>
            <a:off x="4846320" y="123444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日常生活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600200"/>
            <a:ext cx="3200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天气播报 · 穿搭提醒 · 日程推送 · 事项管理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651760"/>
            <a:ext cx="3657600" cy="13716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651760"/>
            <a:ext cx="73152" cy="1371600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17" name="Text 15"/>
          <p:cNvSpPr/>
          <p:nvPr/>
        </p:nvSpPr>
        <p:spPr>
          <a:xfrm>
            <a:off x="1005840" y="278892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编程开发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154680"/>
            <a:ext cx="3200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建库 · 生成代码 · 推送 PR · 邮件回传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2651760"/>
            <a:ext cx="3657600" cy="13716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2651760"/>
            <a:ext cx="73152" cy="1371600"/>
          </a:xfrm>
          <a:prstGeom prst="rect">
            <a:avLst/>
          </a:prstGeom>
          <a:solidFill>
            <a:srgbClr val="0052D9"/>
          </a:solidFill>
        </p:spPr>
      </p:sp>
      <p:sp>
        <p:nvSpPr>
          <p:cNvPr id="21" name="Text 19"/>
          <p:cNvSpPr/>
          <p:nvPr/>
        </p:nvSpPr>
        <p:spPr>
          <a:xfrm>
            <a:off x="4846320" y="278892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内容创作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3154680"/>
            <a:ext cx="3200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素材搜集 · 内容整理 · 文件归档 · 社媒运营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57200" y="47091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QClaw 安装与使用实战指南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470916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85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  本地安全架构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7" name="Shape 5"/>
          <p:cNvSpPr/>
          <p:nvPr/>
        </p:nvSpPr>
        <p:spPr>
          <a:xfrm>
            <a:off x="731520" y="1097280"/>
            <a:ext cx="4114800" cy="3200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097280"/>
            <a:ext cx="54864" cy="3200400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9" name="Text 7"/>
          <p:cNvSpPr/>
          <p:nvPr/>
        </p:nvSpPr>
        <p:spPr>
          <a:xfrm>
            <a:off x="1097280" y="128016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数据流安全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1737360"/>
            <a:ext cx="3474720" cy="365760"/>
          </a:xfrm>
          <a:prstGeom prst="rect">
            <a:avLst/>
          </a:prstGeom>
          <a:solidFill>
            <a:srgbClr val="E8F5E9"/>
          </a:solidFill>
        </p:spPr>
      </p:sp>
      <p:sp>
        <p:nvSpPr>
          <p:cNvPr id="11" name="Text 9"/>
          <p:cNvSpPr/>
          <p:nvPr/>
        </p:nvSpPr>
        <p:spPr>
          <a:xfrm>
            <a:off x="1097280" y="173736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用户微信指令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77440" y="2103120"/>
            <a:ext cx="0" cy="137160"/>
          </a:xfrm>
          <a:prstGeom prst="line">
            <a:avLst/>
          </a:prstGeom>
          <a:noFill/>
          <a:ln w="25400">
            <a:solidFill>
              <a:srgbClr val="00C85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240280"/>
            <a:ext cx="3474720" cy="365760"/>
          </a:xfrm>
          <a:prstGeom prst="rect">
            <a:avLst/>
          </a:prstGeom>
          <a:solidFill>
            <a:srgbClr val="E8F5E9"/>
          </a:solidFill>
        </p:spPr>
      </p:sp>
      <p:sp>
        <p:nvSpPr>
          <p:cNvPr id="14" name="Text 12"/>
          <p:cNvSpPr/>
          <p:nvPr/>
        </p:nvSpPr>
        <p:spPr>
          <a:xfrm>
            <a:off x="1097280" y="224028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QClaw 本地处理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77440" y="2606040"/>
            <a:ext cx="0" cy="137160"/>
          </a:xfrm>
          <a:prstGeom prst="line">
            <a:avLst/>
          </a:prstGeom>
          <a:noFill/>
          <a:ln w="25400">
            <a:solidFill>
              <a:srgbClr val="00C8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2743200"/>
            <a:ext cx="3474720" cy="365760"/>
          </a:xfrm>
          <a:prstGeom prst="rect">
            <a:avLst/>
          </a:prstGeom>
          <a:solidFill>
            <a:srgbClr val="E8F5E9"/>
          </a:solidFill>
        </p:spPr>
      </p:sp>
      <p:sp>
        <p:nvSpPr>
          <p:cNvPr id="17" name="Text 15"/>
          <p:cNvSpPr/>
          <p:nvPr/>
        </p:nvSpPr>
        <p:spPr>
          <a:xfrm>
            <a:off x="1097280" y="274320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安全沙箱隔离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77440" y="3108960"/>
            <a:ext cx="0" cy="137160"/>
          </a:xfrm>
          <a:prstGeom prst="line">
            <a:avLst/>
          </a:prstGeom>
          <a:noFill/>
          <a:ln w="25400">
            <a:solidFill>
              <a:srgbClr val="00C85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3246120"/>
            <a:ext cx="3474720" cy="365760"/>
          </a:xfrm>
          <a:prstGeom prst="rect">
            <a:avLst/>
          </a:prstGeom>
          <a:solidFill>
            <a:srgbClr val="E8F5E9"/>
          </a:solidFill>
        </p:spPr>
      </p:sp>
      <p:sp>
        <p:nvSpPr>
          <p:cNvPr id="20" name="Text 18"/>
          <p:cNvSpPr/>
          <p:nvPr/>
        </p:nvSpPr>
        <p:spPr>
          <a:xfrm>
            <a:off x="1097280" y="324612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 API 调用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377440" y="3611880"/>
            <a:ext cx="0" cy="137160"/>
          </a:xfrm>
          <a:prstGeom prst="line">
            <a:avLst/>
          </a:prstGeom>
          <a:noFill/>
          <a:ln w="25400">
            <a:solidFill>
              <a:srgbClr val="00C8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3749040"/>
            <a:ext cx="3474720" cy="365760"/>
          </a:xfrm>
          <a:prstGeom prst="rect">
            <a:avLst/>
          </a:prstGeom>
          <a:solidFill>
            <a:srgbClr val="E8F5E9"/>
          </a:solidFill>
        </p:spPr>
      </p:sp>
      <p:sp>
        <p:nvSpPr>
          <p:cNvPr id="23" name="Text 21"/>
          <p:cNvSpPr/>
          <p:nvPr/>
        </p:nvSpPr>
        <p:spPr>
          <a:xfrm>
            <a:off x="1097280" y="374904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结果返回微信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1097280"/>
            <a:ext cx="3840480" cy="3200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0" y="1097280"/>
            <a:ext cx="54864" cy="3200400"/>
          </a:xfrm>
          <a:prstGeom prst="rect">
            <a:avLst/>
          </a:prstGeom>
          <a:solidFill>
            <a:srgbClr val="0052D9"/>
          </a:solidFill>
        </p:spPr>
      </p:sp>
      <p:sp>
        <p:nvSpPr>
          <p:cNvPr id="26" name="Text 24"/>
          <p:cNvSpPr/>
          <p:nvPr/>
        </p:nvSpPr>
        <p:spPr>
          <a:xfrm>
            <a:off x="5303520" y="128016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安全保障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03520" y="1737360"/>
            <a:ext cx="3291840" cy="3657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8" name="Text 26"/>
          <p:cNvSpPr/>
          <p:nvPr/>
        </p:nvSpPr>
        <p:spPr>
          <a:xfrm>
            <a:off x="5394960" y="173736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🔒 全程本地运行，数据不出设备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0" y="2194560"/>
            <a:ext cx="3291840" cy="3657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0" name="Text 28"/>
          <p:cNvSpPr/>
          <p:nvPr/>
        </p:nvSpPr>
        <p:spPr>
          <a:xfrm>
            <a:off x="5394960" y="219456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🛡️ 原生安全沙箱防护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03520" y="2651760"/>
            <a:ext cx="3291840" cy="3657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2" name="Text 30"/>
          <p:cNvSpPr/>
          <p:nvPr/>
        </p:nvSpPr>
        <p:spPr>
          <a:xfrm>
            <a:off x="5394960" y="265176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🔐 API 通信全程 TLS 加密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0" y="3108960"/>
            <a:ext cx="3291840" cy="3657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4" name="Text 32"/>
          <p:cNvSpPr/>
          <p:nvPr/>
        </p:nvSpPr>
        <p:spPr>
          <a:xfrm>
            <a:off x="5394960" y="310896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📂 文件访问限制在工作目录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03520" y="3566160"/>
            <a:ext cx="3291840" cy="3657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6" name="Text 34"/>
          <p:cNvSpPr/>
          <p:nvPr/>
        </p:nvSpPr>
        <p:spPr>
          <a:xfrm>
            <a:off x="5394960" y="356616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🚫 敏感操作需二次确认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57200" y="47091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QClaw 安装与使用实战指南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470916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85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  数据隐私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7" name="Shape 5"/>
          <p:cNvSpPr/>
          <p:nvPr/>
        </p:nvSpPr>
        <p:spPr>
          <a:xfrm>
            <a:off x="731520" y="1097280"/>
            <a:ext cx="4572000" cy="6858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097280"/>
            <a:ext cx="54864" cy="685800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9" name="Text 7"/>
          <p:cNvSpPr/>
          <p:nvPr/>
        </p:nvSpPr>
        <p:spPr>
          <a:xfrm>
            <a:off x="1097280" y="117043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本地优先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1444752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任务执行、文件处理、数据存储全部在本地完成，不上传云端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920240"/>
            <a:ext cx="4572000" cy="6858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1920240"/>
            <a:ext cx="54864" cy="685800"/>
          </a:xfrm>
          <a:prstGeom prst="rect">
            <a:avLst/>
          </a:prstGeom>
          <a:solidFill>
            <a:srgbClr val="00A4FF"/>
          </a:solidFill>
        </p:spPr>
      </p:sp>
      <p:sp>
        <p:nvSpPr>
          <p:cNvPr id="13" name="Text 11"/>
          <p:cNvSpPr/>
          <p:nvPr/>
        </p:nvSpPr>
        <p:spPr>
          <a:xfrm>
            <a:off x="1097280" y="199339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凭证隔离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2267712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Key 本地加密存储，不写入日志或提示词模板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4572000" cy="6858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743200"/>
            <a:ext cx="54864" cy="685800"/>
          </a:xfrm>
          <a:prstGeom prst="rect">
            <a:avLst/>
          </a:prstGeom>
          <a:solidFill>
            <a:srgbClr val="0052D9"/>
          </a:solidFill>
        </p:spPr>
      </p:sp>
      <p:sp>
        <p:nvSpPr>
          <p:cNvPr id="17" name="Text 15"/>
          <p:cNvSpPr/>
          <p:nvPr/>
        </p:nvSpPr>
        <p:spPr>
          <a:xfrm>
            <a:off x="1097280" y="281635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数据主权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090672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用户完全掌控数据，可随时导出对话记录和彻底删除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66160"/>
            <a:ext cx="4572000" cy="6858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566160"/>
            <a:ext cx="54864" cy="685800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21" name="Text 19"/>
          <p:cNvSpPr/>
          <p:nvPr/>
        </p:nvSpPr>
        <p:spPr>
          <a:xfrm>
            <a:off x="1097280" y="363931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传输加密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3913632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所有 API 通信使用 TLS/HTTPS，防止中间人攻击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1097280"/>
            <a:ext cx="2926080" cy="32918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0" y="1097280"/>
            <a:ext cx="54864" cy="3291840"/>
          </a:xfrm>
          <a:prstGeom prst="rect">
            <a:avLst/>
          </a:prstGeom>
          <a:solidFill>
            <a:srgbClr val="F5222D"/>
          </a:solidFill>
        </p:spPr>
      </p:sp>
      <p:sp>
        <p:nvSpPr>
          <p:cNvPr id="25" name="Text 23"/>
          <p:cNvSpPr/>
          <p:nvPr/>
        </p:nvSpPr>
        <p:spPr>
          <a:xfrm>
            <a:off x="5943600" y="123444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竞品对比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0" y="1600200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本地部署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1600200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完全支持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0" y="2057400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数据隐私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0" y="2057400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不出电脑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0" y="2514600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微信操控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0" y="2514600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独家支持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0" y="2971800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上手难度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0" y="2971800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一键安装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0" y="3429000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技能生态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0" y="3429000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5000+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57200" y="47091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QClaw 安装与使用实战指南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470916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85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  安全最佳实践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7" name="Shape 5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Shape 6"/>
          <p:cNvSpPr/>
          <p:nvPr/>
        </p:nvSpPr>
        <p:spPr>
          <a:xfrm>
            <a:off x="914400" y="1152144"/>
            <a:ext cx="347472" cy="347472"/>
          </a:xfrm>
          <a:prstGeom prst="ellipse">
            <a:avLst/>
          </a:prstGeom>
          <a:solidFill>
            <a:srgbClr val="00C853"/>
          </a:solidFill>
        </p:spPr>
      </p:sp>
      <p:sp>
        <p:nvSpPr>
          <p:cNvPr id="9" name="Text 7"/>
          <p:cNvSpPr/>
          <p:nvPr/>
        </p:nvSpPr>
        <p:spPr>
          <a:xfrm>
            <a:off x="914400" y="1152144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170432"/>
            <a:ext cx="6583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定期更新 QClaw 至最新版本，获取安全补丁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2" name="Shape 10"/>
          <p:cNvSpPr/>
          <p:nvPr/>
        </p:nvSpPr>
        <p:spPr>
          <a:xfrm>
            <a:off x="914400" y="1700784"/>
            <a:ext cx="347472" cy="347472"/>
          </a:xfrm>
          <a:prstGeom prst="ellipse">
            <a:avLst/>
          </a:prstGeom>
          <a:solidFill>
            <a:srgbClr val="00A4FF"/>
          </a:solidFill>
        </p:spPr>
      </p:sp>
      <p:sp>
        <p:nvSpPr>
          <p:cNvPr id="13" name="Text 11"/>
          <p:cNvSpPr/>
          <p:nvPr/>
        </p:nvSpPr>
        <p:spPr>
          <a:xfrm>
            <a:off x="914400" y="1700784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1719072"/>
            <a:ext cx="6583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使用最小权限原则配置自定义模型 API Key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Shape 14"/>
          <p:cNvSpPr/>
          <p:nvPr/>
        </p:nvSpPr>
        <p:spPr>
          <a:xfrm>
            <a:off x="914400" y="2249424"/>
            <a:ext cx="347472" cy="347472"/>
          </a:xfrm>
          <a:prstGeom prst="ellipse">
            <a:avLst/>
          </a:prstGeom>
          <a:solidFill>
            <a:srgbClr val="0052D9"/>
          </a:solidFill>
        </p:spPr>
      </p:sp>
      <p:sp>
        <p:nvSpPr>
          <p:cNvPr id="17" name="Text 15"/>
          <p:cNvSpPr/>
          <p:nvPr/>
        </p:nvSpPr>
        <p:spPr>
          <a:xfrm>
            <a:off x="914400" y="2249424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2267712"/>
            <a:ext cx="6583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不在公共群聊分享含敏感信息的对话记录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0" name="Shape 18"/>
          <p:cNvSpPr/>
          <p:nvPr/>
        </p:nvSpPr>
        <p:spPr>
          <a:xfrm>
            <a:off x="914400" y="2798064"/>
            <a:ext cx="347472" cy="347472"/>
          </a:xfrm>
          <a:prstGeom prst="ellipse">
            <a:avLst/>
          </a:prstGeom>
          <a:solidFill>
            <a:srgbClr val="00C853"/>
          </a:solidFill>
        </p:spPr>
      </p:sp>
      <p:sp>
        <p:nvSpPr>
          <p:cNvPr id="21" name="Text 19"/>
          <p:cNvSpPr/>
          <p:nvPr/>
        </p:nvSpPr>
        <p:spPr>
          <a:xfrm>
            <a:off x="914400" y="2798064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2816352"/>
            <a:ext cx="6583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启用操作审批，文件删除等高风险操作二次确认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Shape 22"/>
          <p:cNvSpPr/>
          <p:nvPr/>
        </p:nvSpPr>
        <p:spPr>
          <a:xfrm>
            <a:off x="914400" y="3346704"/>
            <a:ext cx="347472" cy="347472"/>
          </a:xfrm>
          <a:prstGeom prst="ellipse">
            <a:avLst/>
          </a:prstGeom>
          <a:solidFill>
            <a:srgbClr val="00A4FF"/>
          </a:solidFill>
        </p:spPr>
      </p:sp>
      <p:sp>
        <p:nvSpPr>
          <p:cNvPr id="25" name="Text 23"/>
          <p:cNvSpPr/>
          <p:nvPr/>
        </p:nvSpPr>
        <p:spPr>
          <a:xfrm>
            <a:off x="914400" y="3346704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3364992"/>
            <a:ext cx="6583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定期审查已安装 Skills 的权限范围和来源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8" name="Shape 26"/>
          <p:cNvSpPr/>
          <p:nvPr/>
        </p:nvSpPr>
        <p:spPr>
          <a:xfrm>
            <a:off x="914400" y="3895344"/>
            <a:ext cx="347472" cy="347472"/>
          </a:xfrm>
          <a:prstGeom prst="ellipse">
            <a:avLst/>
          </a:prstGeom>
          <a:solidFill>
            <a:srgbClr val="0052D9"/>
          </a:solidFill>
        </p:spPr>
      </p:sp>
      <p:sp>
        <p:nvSpPr>
          <p:cNvPr id="29" name="Text 27"/>
          <p:cNvSpPr/>
          <p:nvPr/>
        </p:nvSpPr>
        <p:spPr>
          <a:xfrm>
            <a:off x="914400" y="3895344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63040" y="3913632"/>
            <a:ext cx="6583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敏感企业数据优先使用内置国产模型，不上传第三方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A4FF"/>
          </a:solidFill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36576"/>
          </a:xfrm>
          <a:prstGeom prst="rect">
            <a:avLst/>
          </a:prstGeom>
          <a:solidFill>
            <a:srgbClr val="0052D9"/>
          </a:solidFill>
        </p:spPr>
      </p:sp>
      <p:sp>
        <p:nvSpPr>
          <p:cNvPr id="4" name="Shape 2"/>
          <p:cNvSpPr/>
          <p:nvPr/>
        </p:nvSpPr>
        <p:spPr>
          <a:xfrm>
            <a:off x="6858000" y="146304"/>
            <a:ext cx="73152" cy="4572000"/>
          </a:xfrm>
          <a:prstGeom prst="rect">
            <a:avLst/>
          </a:prstGeom>
          <a:solidFill>
            <a:srgbClr val="00A4FF">
              <a:alpha val="75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731520" y="91440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总结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4864" cy="457200"/>
          </a:xfrm>
          <a:prstGeom prst="rect">
            <a:avLst/>
          </a:prstGeom>
          <a:solidFill>
            <a:srgbClr val="0052D9"/>
          </a:solidFill>
        </p:spPr>
      </p:sp>
      <p:sp>
        <p:nvSpPr>
          <p:cNvPr id="7" name="Text 5"/>
          <p:cNvSpPr/>
          <p:nvPr/>
        </p:nvSpPr>
        <p:spPr>
          <a:xfrm>
            <a:off x="1097280" y="182880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52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68880" y="182880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官网下载 → 一键安装 → 扫码绑定微信，三步上手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54864" cy="457200"/>
          </a:xfrm>
          <a:prstGeom prst="rect">
            <a:avLst/>
          </a:prstGeom>
          <a:solidFill>
            <a:srgbClr val="00A4FF"/>
          </a:solidFill>
        </p:spPr>
      </p:sp>
      <p:sp>
        <p:nvSpPr>
          <p:cNvPr id="10" name="Text 8"/>
          <p:cNvSpPr/>
          <p:nvPr/>
        </p:nvSpPr>
        <p:spPr>
          <a:xfrm>
            <a:off x="1097280" y="246888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运用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68880" y="246888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远程操控 + Skills 生态 + 模型切换，释放 AI 全部潜力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54864" cy="457200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13" name="Text 11"/>
          <p:cNvSpPr/>
          <p:nvPr/>
        </p:nvSpPr>
        <p:spPr>
          <a:xfrm>
            <a:off x="1097280" y="310896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68880" y="310896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1E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本地运行 + 沙箱防护 + 数据不出设备，用得放心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384048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 &amp; A</a:t>
            </a:r>
            <a:endParaRPr lang="en-US" sz="2200" dirty="0"/>
          </a:p>
        </p:txBody>
      </p:sp>
      <p:sp>
        <p:nvSpPr>
          <p:cNvPr id="16" name="Text 14">
            <a:hlinkClick r:id="rId1" tooltip="QClaw 官网"/>
          </p:cNvPr>
          <p:cNvSpPr/>
          <p:nvPr/>
        </p:nvSpPr>
        <p:spPr>
          <a:xfrm>
            <a:off x="2286000" y="43891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u="sng" dirty="0">
                <a:solidFill>
                  <a:srgbClr val="5F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官网：qclaw.qq.com  |  文档：qclaw.qq.com/docs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5" y="0"/>
            <a:ext cx="9125585" cy="50234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685" y="593725"/>
            <a:ext cx="4145280" cy="43199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95" y="594360"/>
            <a:ext cx="4290695" cy="43065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2400" y="102870"/>
            <a:ext cx="1884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Agent Plan</a:t>
            </a:r>
            <a:r>
              <a:rPr lang="zh-CN" altLang="en-US"/>
              <a:t>配置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" y="277495"/>
            <a:ext cx="298132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hlinkClick r:id="rId1"/>
              </a:rPr>
              <a:t>【医院</a:t>
            </a:r>
            <a:r>
              <a:rPr lang="en-US" altLang="zh-CN" sz="1600">
                <a:hlinkClick r:id="rId1"/>
              </a:rPr>
              <a:t>AI</a:t>
            </a:r>
            <a:r>
              <a:rPr lang="zh-CN" altLang="en-US" sz="1600">
                <a:hlinkClick r:id="rId1"/>
              </a:rPr>
              <a:t>岗位技能竞赛预报】</a:t>
            </a:r>
            <a:endParaRPr lang="zh-CN" altLang="en-US" sz="1600">
              <a:hlinkClick r:id="rId1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75" y="883920"/>
            <a:ext cx="3757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https://v.wjx.cn/vm/Q0GBd1j.aspx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810" y="270510"/>
            <a:ext cx="4710430" cy="44894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" y="2232660"/>
            <a:ext cx="1584960" cy="17602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2424</Words>
  <Application>WPS 演示</Application>
  <PresentationFormat>On-screen Show (16:9)</PresentationFormat>
  <Paragraphs>430</Paragraphs>
  <Slides>17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Arial Black</vt:lpstr>
      <vt:lpstr>Arial Black</vt:lpstr>
      <vt:lpstr>Arial Black</vt:lpstr>
      <vt:lpstr>Calibri</vt:lpstr>
      <vt:lpstr>Calibri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QClaw 安装与使用实战指南</dc:title>
  <dc:creator>QClaw</dc:creator>
  <dc:subject>PptxGenJS Presentation</dc:subject>
  <cp:lastModifiedBy>WPS_1605079719</cp:lastModifiedBy>
  <cp:revision>5</cp:revision>
  <dcterms:created xsi:type="dcterms:W3CDTF">2026-05-19T01:59:00Z</dcterms:created>
  <dcterms:modified xsi:type="dcterms:W3CDTF">2026-05-19T02:41:19Z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2052-12.1.0.26373</vt:lpwstr>
  </property>
  <property fmtid="{D5CDD505-2E9C-101B-9397-08002B2CF9AE}" pid="3" name="ICV">
    <vt:lpwstr>5ED7F7538FF0428393E05CAE84D7986F_12</vt:lpwstr>
  </property>
</Properties>
</file>