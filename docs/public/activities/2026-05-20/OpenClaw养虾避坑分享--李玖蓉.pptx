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CLAW_MASTER"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7F2E8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0B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804672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养虾避坑实录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85216" y="1975104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从医学小白第一次敲命令，到升级、网关、飞书、文件上传一路翻车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87752"/>
            <a:ext cx="2926080" cy="0"/>
          </a:xfrm>
          <a:prstGeom prst="line">
            <a:avLst/>
          </a:prstGeom>
          <a:noFill/>
          <a:ln w="50800">
            <a:solidFill>
              <a:srgbClr val="FF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85292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失败经验分享 / 给非技术背景同道的实战提醒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3273552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分享人  李</a:t>
            </a:r>
            <a:r>
              <a:rPr lang="zh-CN" altLang="en-US" sz="142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玖蓉</a:t>
            </a:r>
            <a:r>
              <a:rPr lang="en-US" sz="142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＆小默AI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03504" y="36576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2026年5月20日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7772400" y="93268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115568"/>
            <a:ext cx="3246120" cy="8869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PS&gt; openclaw upgrade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PS&gt; openclaw logs --follow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PS&gt; openclaw doctor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3703320"/>
            <a:ext cx="2194560" cy="1097280"/>
          </a:xfrm>
          <a:prstGeom prst="arc">
            <a:avLst/>
          </a:prstGeom>
          <a:noFill/>
          <a:ln w="27940">
            <a:solidFill>
              <a:srgbClr val="20B8A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65760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A6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4151376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正式开启养虾之路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489204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03504" y="5248656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踩坑不是失败，是升级日志。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 · 2026年5月20日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失败不是段子，是复盘材料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96696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我差点以为自己解锁了计算机天赋。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后来才发现：天赋还没解锁，坑先解锁了。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51760" cy="0"/>
          </a:xfrm>
          <a:prstGeom prst="line">
            <a:avLst/>
          </a:prstGeom>
          <a:noFill/>
          <a:ln w="38100">
            <a:solidFill>
              <a:srgbClr val="20B8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761488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这次分享的价值，不在于“我做对了什么”，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而在于把“哪里容易错、错了怎么救”讲清楚。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2194560"/>
            <a:ext cx="0" cy="2926080"/>
          </a:xfrm>
          <a:prstGeom prst="line">
            <a:avLst/>
          </a:prstGeom>
          <a:noFill/>
          <a:ln w="13970">
            <a:solidFill>
              <a:srgbClr val="D8E2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37744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B7F2E8"/>
          </a:solidFill>
          <a:ln w="12700">
            <a:solidFill>
              <a:srgbClr val="B7F2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2464308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少浪费时间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823960" y="306324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FFE2D8"/>
          </a:solidFill>
          <a:ln w="12700">
            <a:solidFill>
              <a:srgbClr val="FFE2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3150108"/>
            <a:ext cx="17830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少误判成功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138160" y="374904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E5E0FF"/>
          </a:solidFill>
          <a:ln w="12700">
            <a:solidFill>
              <a:srgbClr val="E5E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835908"/>
            <a:ext cx="19659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A6B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少把系统干没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58368" y="521208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今天只讲真实踩坑，不讲神话。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B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总框架：先知道自己在养什么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养龙虾，到底养什么？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不是养一个聊天窗口，而是在维护一套会跑、会连、会调用工具的系统。</a:t>
            </a:r>
            <a:endParaRPr lang="en-US" sz="132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960120" y="2377440"/>
            <a:ext cx="2057400" cy="2057400"/>
          </a:xfrm>
          <a:prstGeom prst="ellipse">
            <a:avLst/>
          </a:prstGeom>
          <a:solidFill>
            <a:srgbClr val="B7F2E8"/>
          </a:solidFill>
          <a:ln w="17780">
            <a:solidFill>
              <a:srgbClr val="20B8AA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143000" y="2816352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</a:t>
            </a:r>
            <a:endParaRPr lang="en-US" sz="21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822960" y="340156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openclaw.json 是系统核心</a:t>
            </a:r>
            <a:endParaRPr lang="en-US" sz="103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1030" dirty="0"/>
              <a:t>模型、账号、路由、权限</a:t>
            </a:r>
            <a:endParaRPr lang="zh-CN" altLang="en-US" sz="103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4617720" y="2377440"/>
            <a:ext cx="2057400" cy="2057400"/>
          </a:xfrm>
          <a:prstGeom prst="ellipse">
            <a:avLst/>
          </a:prstGeom>
          <a:solidFill>
            <a:srgbClr val="FFE8D7"/>
          </a:solidFill>
          <a:ln w="17780">
            <a:solidFill>
              <a:srgbClr val="FF6B4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4800600" y="2816352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</a:t>
            </a:r>
            <a:endParaRPr lang="en-US" sz="21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457700" y="3320415"/>
            <a:ext cx="2331720" cy="391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核心文件决定行为</a:t>
            </a:r>
            <a:endParaRPr lang="en-US" sz="1030" b="1" dirty="0">
              <a:solidFill>
                <a:srgbClr val="1020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altLang="zh-CN" sz="1030" dirty="0"/>
              <a:t>soul、Angents、user、tools、memory、identity、heartbeat</a:t>
            </a:r>
            <a:endParaRPr lang="en-US" altLang="zh-CN" sz="103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8275320" y="2377440"/>
            <a:ext cx="2057400" cy="2057400"/>
          </a:xfrm>
          <a:prstGeom prst="ellipse">
            <a:avLst/>
          </a:prstGeom>
          <a:solidFill>
            <a:srgbClr val="E7E3FF"/>
          </a:solidFill>
          <a:ln w="17780">
            <a:solidFill>
              <a:srgbClr val="7A6BE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8458200" y="2816352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7A6B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</a:t>
            </a:r>
            <a:endParaRPr lang="en-US" sz="21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8138160" y="3401568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 / MCP 决定能做什么</a:t>
            </a:r>
            <a:endParaRPr lang="en-US" sz="103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3127248" y="3401568"/>
            <a:ext cx="1115568" cy="0"/>
          </a:xfrm>
          <a:prstGeom prst="line">
            <a:avLst/>
          </a:prstGeom>
          <a:noFill/>
          <a:ln w="30480">
            <a:solidFill>
              <a:srgbClr val="B7C4C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6793992" y="3401568"/>
            <a:ext cx="1115568" cy="0"/>
          </a:xfrm>
          <a:prstGeom prst="line">
            <a:avLst/>
          </a:prstGeom>
          <a:noFill/>
          <a:ln w="30480">
            <a:solidFill>
              <a:srgbClr val="B7C4C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05840" y="5230368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后面所有事故，基本都能归回这三件事：配置错、文件坏、技能没接好。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6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故事线：从第一次部署到系统重装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我的翻车时间线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353312"/>
            <a:ext cx="92354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每个版本升级都像一集连续剧：上一集刚修好，下一集马上开新坑。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868680" y="3310128"/>
            <a:ext cx="10104120" cy="0"/>
          </a:xfrm>
          <a:prstGeom prst="line">
            <a:avLst/>
          </a:prstGeom>
          <a:noFill/>
          <a:ln w="27940">
            <a:solidFill>
              <a:srgbClr val="BCC9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3163824"/>
            <a:ext cx="292608" cy="292608"/>
          </a:xfrm>
          <a:prstGeom prst="ellipse">
            <a:avLst/>
          </a:prstGeom>
          <a:solidFill>
            <a:srgbClr val="20B8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50545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7889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第一次部署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22576" y="3163824"/>
            <a:ext cx="292608" cy="292608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685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74520" y="3986784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差点干挂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59936" y="3163824"/>
            <a:ext cx="292608" cy="29260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50545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889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飞书罢工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51576" y="3163824"/>
            <a:ext cx="292608" cy="29260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685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8A1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0" y="3986784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丝滑又权限坑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88936" y="3163824"/>
            <a:ext cx="292608" cy="292608"/>
          </a:xfrm>
          <a:prstGeom prst="ellipse">
            <a:avLst/>
          </a:prstGeom>
          <a:solidFill>
            <a:srgbClr val="E24A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50545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4A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7889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UI/ no boot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26296" y="316382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685032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云服务器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0" y="3986784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重新部署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826496" y="3163824"/>
            <a:ext cx="292608" cy="292608"/>
          </a:xfrm>
          <a:prstGeom prst="ellipse">
            <a:avLst/>
          </a:prstGeom>
          <a:solidFill>
            <a:srgbClr val="7A6B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250545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A6B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5.18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378440" y="278892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仍在学习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14400" y="5257800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主线不是“越升级越顺”，而是：每次事故都让我多掌握一个排查维度。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1：升级与兼容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第一大坑：升级不是点一下按钮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126187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3.31 回退，4.1 起飞，4.2 直接把 Windows 干没。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67512" y="1837944"/>
            <a:ext cx="4069080" cy="3401568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C9D5D1"/>
            </a:solidFill>
            <a:prstDash val="solid"/>
          </a:ln>
          <a:effectLst>
            <a:outerShdw blurRad="12700" dist="50800" dir="2700000" algn="bl" rotWithShape="0">
              <a:srgbClr val="9DA9B5">
                <a:alpha val="12000"/>
              </a:srgbClr>
            </a:outerShdw>
          </a:effectLst>
        </p:spPr>
      </p:sp>
      <p:pic>
        <p:nvPicPr>
          <p:cNvPr id="7" name="Image 0" descr="D:\codex文件存储\tmp\openclaw_pitfall_share\scratch\assets\upgrade_succes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83664"/>
            <a:ext cx="3977640" cy="3310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5303520"/>
            <a:ext cx="3977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升级成功截图：先喜悦，后惊悚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093208" y="1837944"/>
            <a:ext cx="2423160" cy="3483864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D5D1"/>
            </a:solidFill>
            <a:prstDash val="solid"/>
          </a:ln>
          <a:effectLst>
            <a:outerShdw blurRad="12700" dist="50800" dir="2700000" algn="bl" rotWithShape="0">
              <a:srgbClr val="9DA9B5">
                <a:alpha val="12000"/>
              </a:srgbClr>
            </a:outerShdw>
          </a:effectLst>
        </p:spPr>
      </p:sp>
      <p:pic>
        <p:nvPicPr>
          <p:cNvPr id="10" name="Image 1" descr="D:\codex文件存储\tmp\openclaw_pitfall_share\scratch\assets\upgrade_black_scre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83664"/>
            <a:ext cx="2331720" cy="33924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38928" y="538581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4.2 后 no boot 事故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973568" y="1920240"/>
            <a:ext cx="3520440" cy="1920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升级前至少做三件事：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备份 openclaw.json 和核心文件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断开会话、停止服务、确认回退路径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升级后双重验证：进程版本 + 浏览器缓存</a:t>
            </a:r>
            <a:endParaRPr lang="en-US" sz="1280" dirty="0"/>
          </a:p>
        </p:txBody>
      </p:sp>
      <p:sp>
        <p:nvSpPr>
          <p:cNvPr id="13" name="Shape 9"/>
          <p:cNvSpPr/>
          <p:nvPr/>
        </p:nvSpPr>
        <p:spPr>
          <a:xfrm>
            <a:off x="7973568" y="4233672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56448" y="4416552"/>
            <a:ext cx="28803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--version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status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Ctrl + Shift + R</a:t>
            </a:r>
            <a:endParaRPr lang="en-US" sz="1040" dirty="0"/>
          </a:p>
        </p:txBody>
      </p:sp>
      <p:sp>
        <p:nvSpPr>
          <p:cNvPr id="15" name="Shape 11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2：部署位置与数据边界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部署选择：本地很爽，云端很稳，但不是一回事</a:t>
            </a:r>
            <a:endParaRPr lang="en-US" sz="2580" dirty="0"/>
          </a:p>
        </p:txBody>
      </p:sp>
      <p:sp>
        <p:nvSpPr>
          <p:cNvPr id="5" name="Text 3"/>
          <p:cNvSpPr/>
          <p:nvPr/>
        </p:nvSpPr>
        <p:spPr>
          <a:xfrm>
            <a:off x="585216" y="123444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医学科研首先要问：数据放在哪里？模型跑在哪里？文件由谁来操作？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841248" y="2084832"/>
            <a:ext cx="10607040" cy="0"/>
          </a:xfrm>
          <a:prstGeom prst="line">
            <a:avLst/>
          </a:prstGeom>
          <a:noFill/>
          <a:ln w="12700">
            <a:solidFill>
              <a:srgbClr val="D8E2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8288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本地部署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0" y="18288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云端部署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10607040" cy="0"/>
          </a:xfrm>
          <a:prstGeom prst="line">
            <a:avLst/>
          </a:prstGeom>
          <a:noFill/>
          <a:ln w="10160">
            <a:solidFill>
              <a:srgbClr val="E2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数据安全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42316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 / 内网可控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178040" y="2423160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依赖服务器与传输链路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41248" y="3547872"/>
            <a:ext cx="10607040" cy="0"/>
          </a:xfrm>
          <a:prstGeom prst="line">
            <a:avLst/>
          </a:prstGeom>
          <a:noFill/>
          <a:ln w="10160">
            <a:solidFill>
              <a:srgbClr val="E2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0896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文件操控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310896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可以直接接管本机文件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178040" y="3108960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无法直接操作本地电脑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41248" y="4233672"/>
            <a:ext cx="10607040" cy="0"/>
          </a:xfrm>
          <a:prstGeom prst="line">
            <a:avLst/>
          </a:prstGeom>
          <a:noFill/>
          <a:ln w="10160">
            <a:solidFill>
              <a:srgbClr val="E2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9476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模型资源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46120" y="379476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本地模型吃配置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178040" y="3794760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/ 云端资源更灵活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41248" y="4919472"/>
            <a:ext cx="10607040" cy="0"/>
          </a:xfrm>
          <a:prstGeom prst="line">
            <a:avLst/>
          </a:prstGeom>
          <a:noFill/>
          <a:ln w="10160">
            <a:solidFill>
              <a:srgbClr val="BFD0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8056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费用结构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448056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无订阅，硬件可能贵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178040" y="4480560"/>
            <a:ext cx="3429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服务器租金持续存在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932688" y="5486400"/>
            <a:ext cx="8869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结论：先决定数据边界，再决定部署方案。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4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3：网络安全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云服务器第一件事：查端口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92354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24A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看到 0.0.0.0:port，要先紧张一下。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57400"/>
            <a:ext cx="4754880" cy="1618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ss -tlnp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netstat -tlnp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0.0.0.0:22       SSH 暴露公网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0.0.0.0:34605   Gateway 暴露公网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危险程度：高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SSH：可能被暴力破解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Gateway：控制面板可能被撞库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云安全组：默认规则常常太宽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3858768"/>
            <a:ext cx="3017520" cy="0"/>
          </a:xfrm>
          <a:prstGeom prst="line">
            <a:avLst/>
          </a:prstGeom>
          <a:noFill/>
          <a:ln w="38100">
            <a:solidFill>
              <a:srgbClr val="E24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16052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密钥登录，禁用密码登录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安装 fail2ban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安全组限制来源 IP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只开放必要端口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10241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部署成功以后，先查暴露面，再开始折腾功能。</a:t>
            </a:r>
            <a:endParaRPr lang="en-US" sz="1530" dirty="0"/>
          </a:p>
        </p:txBody>
      </p:sp>
      <p:sp>
        <p:nvSpPr>
          <p:cNvPr id="12" name="Shape 10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A6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4：飞书消息路由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Bot / 多 Agent：最怕串台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0759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工作宝消息跑到 main，根因往往不是模型，而是 bindings。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20B8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77440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0B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41832" y="2660904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小默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80360" y="224028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377440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953512" y="2660904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情感宝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92040" y="224028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7A6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377440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7A6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965192" y="2660904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03720" y="2240280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377440"/>
            <a:ext cx="14264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976872" y="2660904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文献宝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32304" y="2615184"/>
            <a:ext cx="438912" cy="0"/>
          </a:xfrm>
          <a:prstGeom prst="line">
            <a:avLst/>
          </a:prstGeom>
          <a:noFill/>
          <a:ln w="25400">
            <a:solidFill>
              <a:srgbClr val="AAB7B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43984" y="2615184"/>
            <a:ext cx="438912" cy="0"/>
          </a:xfrm>
          <a:prstGeom prst="line">
            <a:avLst/>
          </a:prstGeom>
          <a:noFill/>
          <a:ln w="25400">
            <a:solidFill>
              <a:srgbClr val="AAB7B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55664" y="2615184"/>
            <a:ext cx="438912" cy="0"/>
          </a:xfrm>
          <a:prstGeom prst="line">
            <a:avLst/>
          </a:prstGeom>
          <a:noFill/>
          <a:ln w="25400">
            <a:solidFill>
              <a:srgbClr val="AAB7B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35440" y="1399032"/>
            <a:ext cx="1874520" cy="290779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9D5D1"/>
            </a:solidFill>
            <a:prstDash val="solid"/>
          </a:ln>
          <a:effectLst>
            <a:outerShdw blurRad="12700" dist="50800" dir="2700000" algn="bl" rotWithShape="0">
              <a:srgbClr val="9DA9B5">
                <a:alpha val="12000"/>
              </a:srgbClr>
            </a:outerShdw>
          </a:effectLst>
        </p:spPr>
      </p:sp>
      <p:pic>
        <p:nvPicPr>
          <p:cNvPr id="22" name="Image 0" descr="D:\codex文件存储\tmp\openclaw_pitfall_share\scratch\assets\multi_bot_sess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444752"/>
            <a:ext cx="1783080" cy="28163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281160" y="4370832"/>
            <a:ext cx="1783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真实截图：session 污染仍未解决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14400" y="37947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7280" y="3977640"/>
            <a:ext cx="4434840" cy="6126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bindings: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work_bot -&gt; work_agent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literature_bot -&gt; literature_agent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accountId === config key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6263640" y="3657600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命名不要用含糊简称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解绑后重配，别留残留项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每个 bot 单独发测试消息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session 隔离要逐一验证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14400" y="5349240"/>
            <a:ext cx="8412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多账号架构下，路由规则比模型选择更容易翻车。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B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5：Gateway 与 Session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2412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Gateway / Session：同步不到位，就会卡在半路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85216" y="126187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端口、token、网关域名、session 列表，任何一步错了都像“系统不听话”。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2331720" cy="309067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9D5D1"/>
            </a:solidFill>
            <a:prstDash val="solid"/>
          </a:ln>
          <a:effectLst>
            <a:outerShdw blurRad="12700" dist="50800" dir="2700000" algn="bl" rotWithShape="0">
              <a:srgbClr val="9DA9B5">
                <a:alpha val="12000"/>
              </a:srgbClr>
            </a:outerShdw>
          </a:effectLst>
        </p:spPr>
      </p:sp>
      <p:pic>
        <p:nvPicPr>
          <p:cNvPr id="7" name="Image 0" descr="D:\codex文件存储\tmp\openclaw_pitfall_share\scratch\assets\gateway_sessio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240280" cy="2999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92040"/>
            <a:ext cx="2240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网关与 session 排查截图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822192" y="214884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E7FBF7"/>
          </a:solidFill>
          <a:ln w="13970">
            <a:solidFill>
              <a:srgbClr val="20B8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13632" y="23317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端口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58184" y="29443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服务是否真的监听？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696712" y="214884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E8F4FF"/>
          </a:solidFill>
          <a:ln w="1397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8152" y="23317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32704" y="29443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鉴权是否配对？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571232" y="214884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E7FBF7"/>
          </a:solidFill>
          <a:ln w="13970">
            <a:solidFill>
              <a:srgbClr val="20B8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2672" y="23317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域名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07224" y="29443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gateway 是否识别？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9445752" y="2148840"/>
            <a:ext cx="1417320" cy="713232"/>
          </a:xfrm>
          <a:prstGeom prst="roundRect">
            <a:avLst>
              <a:gd name="adj" fmla="val 8974"/>
            </a:avLst>
          </a:prstGeom>
          <a:solidFill>
            <a:srgbClr val="E8F4FF"/>
          </a:solidFill>
          <a:ln w="1397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37192" y="23317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session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381744" y="294436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列表是否污染？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257800" y="2505456"/>
            <a:ext cx="384048" cy="0"/>
          </a:xfrm>
          <a:prstGeom prst="line">
            <a:avLst/>
          </a:prstGeom>
          <a:noFill/>
          <a:ln w="22860">
            <a:solidFill>
              <a:srgbClr val="B6C3C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132320" y="2505456"/>
            <a:ext cx="384048" cy="0"/>
          </a:xfrm>
          <a:prstGeom prst="line">
            <a:avLst/>
          </a:prstGeom>
          <a:noFill/>
          <a:ln w="22860">
            <a:solidFill>
              <a:srgbClr val="B6C3C0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06840" y="2505456"/>
            <a:ext cx="384048" cy="0"/>
          </a:xfrm>
          <a:prstGeom prst="line">
            <a:avLst/>
          </a:prstGeom>
          <a:noFill/>
          <a:ln w="22860">
            <a:solidFill>
              <a:srgbClr val="B6C3C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886200" y="4041648"/>
            <a:ext cx="5166360" cy="1033272"/>
          </a:xfrm>
          <a:prstGeom prst="roundRect">
            <a:avLst>
              <a:gd name="adj" fmla="val 7080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69080" y="4224528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gateway status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logs --follow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doctor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3886200" y="539496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经验：不要凭感觉修，先把链路画出来。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6：cron 与自动投递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定时任务：成功运行 ≠ 成功投递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8686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任务跑完了，但消息没到，问题可能在投递参数。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4526280" cy="1481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cron add \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--channel feishu \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--announce \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--to user:ou_xxx \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--timeout 120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2B8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--channel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092440" y="18745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投递渠道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492240" y="2221992"/>
            <a:ext cx="4160520" cy="0"/>
          </a:xfrm>
          <a:prstGeom prst="line">
            <a:avLst/>
          </a:prstGeom>
          <a:noFill/>
          <a:ln w="10160">
            <a:solidFill>
              <a:srgbClr val="E6D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6032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2B8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--announce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092440" y="2560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是否推送结果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492240" y="2907792"/>
            <a:ext cx="4160520" cy="0"/>
          </a:xfrm>
          <a:prstGeom prst="line">
            <a:avLst/>
          </a:prstGeom>
          <a:noFill/>
          <a:ln w="10160">
            <a:solidFill>
              <a:srgbClr val="E6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4612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2B8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--to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8092440" y="32461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发给谁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492240" y="3593592"/>
            <a:ext cx="4160520" cy="0"/>
          </a:xfrm>
          <a:prstGeom prst="line">
            <a:avLst/>
          </a:prstGeom>
          <a:noFill/>
          <a:ln w="10160">
            <a:solidFill>
              <a:srgbClr val="E6D4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93192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F2B8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--timeout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8092440" y="39319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给任务足够时间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492240" y="4279392"/>
            <a:ext cx="4160520" cy="0"/>
          </a:xfrm>
          <a:prstGeom prst="line">
            <a:avLst/>
          </a:prstGeom>
          <a:noFill/>
          <a:ln w="10160">
            <a:solidFill>
              <a:srgbClr val="E6D4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9784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最终我删除了所有自动投递任务：不是每个自动化都值得维护。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4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7：文件上传服务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24A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0" y="987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不等于成功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1700784"/>
            <a:ext cx="8595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空响应体、鉴权失效、文件打不开，才是真正的信号。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lightclaw_upload_file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880360" y="3090672"/>
            <a:ext cx="566928" cy="0"/>
          </a:xfrm>
          <a:prstGeom prst="line">
            <a:avLst/>
          </a:prstGeom>
          <a:noFill/>
          <a:ln w="25400">
            <a:solidFill>
              <a:srgbClr val="B7C3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27432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B8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 200 空响应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3090672"/>
            <a:ext cx="566928" cy="0"/>
          </a:xfrm>
          <a:prstGeom prst="line">
            <a:avLst/>
          </a:prstGeom>
          <a:noFill/>
          <a:ln w="25400">
            <a:solidFill>
              <a:srgbClr val="B7C3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27432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4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4A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Office 文件打不开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8200" y="3090672"/>
            <a:ext cx="566928" cy="0"/>
          </a:xfrm>
          <a:prstGeom prst="line">
            <a:avLst/>
          </a:prstGeom>
          <a:noFill/>
          <a:ln w="25400">
            <a:solidFill>
              <a:srgbClr val="B7C3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27432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A1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改用 COS 验证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5166360" cy="1078992"/>
          </a:xfrm>
          <a:prstGeom prst="roundRect">
            <a:avLst>
              <a:gd name="adj" fmla="val 6780"/>
            </a:avLst>
          </a:prstGeom>
          <a:solidFill>
            <a:srgbClr val="132238"/>
          </a:solidFill>
          <a:ln w="12700">
            <a:solidFill>
              <a:srgbClr val="263752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52628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NEED_UIN_AND_SKEY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body: &lt;empty&gt;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6F7F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关键文件：上传后必须打开验证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766560" y="4261104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影响范围：</a:t>
            </a:r>
            <a:endParaRPr lang="en-US" sz="1270" dirty="0"/>
          </a:p>
          <a:p>
            <a:pPr marL="0" indent="0">
              <a:buNone/>
            </a:pPr>
            <a:r>
              <a:rPr lang="en-US" sz="127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Word / Excel / PPT 等 Office 文件</a:t>
            </a:r>
            <a:endParaRPr lang="en-US" sz="1270" dirty="0"/>
          </a:p>
          <a:p>
            <a:pPr marL="0" indent="0">
              <a:buNone/>
            </a:pPr>
            <a:r>
              <a:rPr lang="en-US" sz="127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一旦上传服务宕机，整个文件工作流都会断。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B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8：记忆与上下文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03327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会话记忆：不要把历史对话当唯一记忆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85216" y="1316736"/>
            <a:ext cx="92354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昨天的工作，不该只活在聊天窗口里。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22960" y="2176272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B8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BOOTSTRAP.md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0392" y="27432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每次启动先读上下文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3383280" cy="1508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研究背景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当前任务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关键文件位置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上次未完成事项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3401568"/>
            <a:ext cx="1143000" cy="0"/>
          </a:xfrm>
          <a:prstGeom prst="line">
            <a:avLst/>
          </a:prstGeom>
          <a:noFill/>
          <a:ln w="31750">
            <a:solidFill>
              <a:srgbClr val="B8C8C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327648" y="2862072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新会话不是空白页，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而是接着昨天继续工作。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原则：重要上下文写文件，不依赖聊天历史。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B8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坑 9：学习曲线与时间成本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学习曲线：真正贵的是时间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2B8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小时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第一次配置，在专业人员帮助下依然花了这么久。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126480" y="203911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B7F2E8"/>
          </a:solidFill>
          <a:ln w="12700">
            <a:solidFill>
              <a:srgbClr val="B7F2E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125980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命令行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8183880" y="203911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7E3FF"/>
          </a:solidFill>
          <a:ln w="12700">
            <a:solidFill>
              <a:srgbClr val="E7E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2125980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7A6B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JSON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126480" y="272491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FE2D8"/>
          </a:solidFill>
          <a:ln w="12700">
            <a:solidFill>
              <a:srgbClr val="FFE2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811780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日志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183880" y="2724912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FF6E7"/>
          </a:solidFill>
          <a:ln w="12700">
            <a:solidFill>
              <a:srgbClr val="DFF6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811780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38A1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6126480" y="3703320"/>
            <a:ext cx="438912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龙虾的性能好坏，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很大程度上取决于动手能力。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" y="5376672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量力而行：不是所有配置都值得自己硬啃。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A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可执行建议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978408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给技术小白的避坑清单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4672" y="1600200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部署前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2514600" y="157276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决定本地 / 云端，确认数据边界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804672" y="2176272"/>
            <a:ext cx="164592" cy="164592"/>
          </a:xfrm>
          <a:prstGeom prst="ellipse">
            <a:avLst/>
          </a:prstGeom>
          <a:solidFill>
            <a:srgbClr val="20B8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488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部署后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2514600" y="214884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查端口暴露与安全组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804672" y="2752344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249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升级前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514600" y="2724912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备份配置，确认回退路径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04672" y="3328416"/>
            <a:ext cx="164592" cy="164592"/>
          </a:xfrm>
          <a:prstGeom prst="ellipse">
            <a:avLst/>
          </a:prstGeom>
          <a:solidFill>
            <a:srgbClr val="20B8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0098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 Bot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2514600" y="330098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命名规范，逐个发消息验证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04672" y="3904488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87705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文件上传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514600" y="3877056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 200 后还要打开文件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804672" y="4480560"/>
            <a:ext cx="164592" cy="164592"/>
          </a:xfrm>
          <a:prstGeom prst="ellipse">
            <a:avLst/>
          </a:prstGeom>
          <a:solidFill>
            <a:srgbClr val="20B8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4531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自动任务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2514600" y="4453128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--channel / --announce / --to / --timeout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804672" y="5056632"/>
            <a:ext cx="164592" cy="16459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0292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会话记忆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2514600" y="5029200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BOOTSTRAP.md 保存关键上下文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9966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A1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原则：先备份，再操作；先验证，再宣布成功。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1381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回到医学科研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19104" y="29260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07899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智能体：没有绝对好坏，只有适合不适合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585216" y="130759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5F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我们需要的不是文字堆砌，而是把临床问题变成严谨研究。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9966960" cy="0"/>
          </a:xfrm>
          <a:prstGeom prst="line">
            <a:avLst/>
          </a:prstGeom>
          <a:noFill/>
          <a:ln w="15240">
            <a:solidFill>
              <a:srgbClr val="D8E2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23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临床问题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874520" y="2907792"/>
            <a:ext cx="237744" cy="237744"/>
          </a:xfrm>
          <a:prstGeom prst="ellipse">
            <a:avLst/>
          </a:prstGeom>
          <a:solidFill>
            <a:srgbClr val="20B8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423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7A6B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研究设计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532120" y="2907792"/>
            <a:ext cx="237744" cy="237744"/>
          </a:xfrm>
          <a:prstGeom prst="ellipse">
            <a:avLst/>
          </a:prstGeom>
          <a:solidFill>
            <a:srgbClr val="7A6B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42316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6B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高质量 RCT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189720" y="2907792"/>
            <a:ext cx="237744" cy="237744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822192"/>
            <a:ext cx="9966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PICO · 纳排标准 · 随机化 · 样本量 · 终点指标 · 统计分析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如果工具能让医生的研究想法更清晰、更科学，它就值得被认真学习。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14300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踩坑不是失败，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B8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是升级日志。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9808" y="2633472"/>
            <a:ext cx="2560320" cy="0"/>
          </a:xfrm>
          <a:prstGeom prst="line">
            <a:avLst/>
          </a:prstGeom>
          <a:noFill/>
          <a:ln w="50800">
            <a:solidFill>
              <a:srgbClr val="FF6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306324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愿每一次翻车，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都变成下一位同道的避坑地图。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07492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谢谢大家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52360" y="10058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1322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609344"/>
            <a:ext cx="2834640" cy="23317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DF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openclaw doctor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DDF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backup first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DDF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verify twice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DDFC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share the pit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4343400"/>
            <a:ext cx="2331720" cy="0"/>
          </a:xfrm>
          <a:prstGeom prst="line">
            <a:avLst/>
          </a:prstGeom>
          <a:noFill/>
          <a:ln w="17780">
            <a:solidFill>
              <a:srgbClr val="B7F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4617720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7F2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OpenClaw 养虾避坑分享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66928" y="6373368"/>
            <a:ext cx="10881360" cy="0"/>
          </a:xfrm>
          <a:prstGeom prst="line">
            <a:avLst/>
          </a:prstGeom>
          <a:noFill/>
          <a:ln w="6350">
            <a:solidFill>
              <a:srgbClr val="D8E2D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73952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dirty="0">
                <a:solidFill>
                  <a:srgbClr val="8D98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</a:t>
            </a:r>
            <a:endParaRPr lang="en-US" sz="66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2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3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4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5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6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7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8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9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10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ags/tag11.xml><?xml version="1.0" encoding="utf-8"?>
<p:tagLst xmlns:p="http://schemas.openxmlformats.org/presentationml/2006/main">
  <p:tag name="KSO_WM_DIAGRAM_VIRTUALLY_FRAME" val="{&quot;height&quot;:162,&quot;left&quot;:64.8,&quot;top&quot;:187.2,&quot;width&quot;:75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3177</Words>
  <Application>WPS 演示</Application>
  <PresentationFormat>On-screen Show (16:9)</PresentationFormat>
  <Paragraphs>465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Aptos</vt:lpstr>
      <vt:lpstr>Segoe UI</vt:lpstr>
      <vt:lpstr>Aptos</vt:lpstr>
      <vt:lpstr>Aptos</vt:lpstr>
      <vt:lpstr>微软雅黑</vt:lpstr>
      <vt:lpstr>微软雅黑</vt:lpstr>
      <vt:lpstr>Consolas</vt:lpstr>
      <vt:lpstr>Consolas</vt:lpstr>
      <vt:lpstr>Consolas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Codex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养虾避坑分享</dc:title>
  <dc:creator>Codex</dc:creator>
  <dc:subject>OpenClaw 踩坑经验分享</dc:subject>
  <cp:lastModifiedBy>李玖蓉</cp:lastModifiedBy>
  <cp:revision>9</cp:revision>
  <dcterms:created xsi:type="dcterms:W3CDTF">2026-05-18T14:36:00Z</dcterms:created>
  <dcterms:modified xsi:type="dcterms:W3CDTF">2026-05-20T05:59:58Z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B4ACBDC8ED08449B8BE9BCC14D408FFB_12</vt:lpwstr>
  </property>
</Properties>
</file>